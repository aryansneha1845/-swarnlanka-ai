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1097280"/>
          </a:xfrm>
          <a:prstGeom prst="round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FFE7A0"/>
                </a:solidFill>
              </a:defRPr>
            </a:pPr>
            <a:r>
              <a:t>Hack Devengers 2.0  |  24H Open Innovation  |  19-20 Sep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92400E"/>
                </a:solidFill>
              </a:defRPr>
            </a:pPr>
            <a:r>
              <a:t>SwarnLanka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78716B"/>
                </a:solidFill>
              </a:defRPr>
            </a:pPr>
            <a:r>
              <a:t>Turning Citizen Reports into Intelligent Civic 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3383280"/>
            <a:ext cx="3931920" cy="54864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AI  |  Vision  |  Geospatial  |  Priority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78716B"/>
                </a:solidFill>
              </a:defRPr>
            </a:pPr>
            <a:r>
              <a:t>AI-powered civic intelligence  |  UploadFile + NLP + Duplicate Detection + Auto Routing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92400E"/>
                </a:solidFill>
              </a:defRPr>
            </a:pPr>
            <a:r>
              <a:t>Live:  swarn-lanka-fxrdrw1tn-aryansneha1845.vercel.app   |   API:  swarnlanka-ai.onrender.com/docs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78716B"/>
                </a:solidFill>
              </a:defRPr>
            </a:pPr>
            <a:r>
              <a:t>GitHub: github.com/Aryansneha1845/-SwarnLanka-AI   |   Team: SwarnLanka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92400E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78716B"/>
                </a:solidFill>
              </a:defRPr>
            </a:pPr>
            <a:r>
              <a:t>Cities drown in complaints. The bottleneck is NOT collection - it is intelligence.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56616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92400E"/>
                </a:solidFill>
              </a:defRPr>
            </a:pPr>
            <a:r>
              <a:t>Understanding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C1917"/>
                </a:solidFill>
              </a:defRPr>
            </a:pPr>
            <a:r>
              <a:t>Text + Image chaos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8716B"/>
                </a:solidFill>
              </a:defRPr>
            </a:pPr>
            <a:r>
              <a:t>Unstructured citizen language + photos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356616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92400E"/>
                </a:solidFill>
              </a:defRPr>
            </a:pPr>
            <a:r>
              <a:t>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965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C1917"/>
                </a:solidFill>
              </a:defRPr>
            </a:pPr>
            <a:r>
              <a:t>Fake / unclear reports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2402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8716B"/>
                </a:solidFill>
              </a:defRPr>
            </a:pPr>
            <a:r>
              <a:t>No vision 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63040"/>
            <a:ext cx="356616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0" y="155448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92400E"/>
                </a:solidFill>
              </a:defRPr>
            </a:pPr>
            <a:r>
              <a:t>Duplicates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65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C1917"/>
                </a:solidFill>
              </a:defRPr>
            </a:pPr>
            <a:r>
              <a:t>12 reports = 1 pothole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2402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8716B"/>
                </a:solidFill>
              </a:defRPr>
            </a:pPr>
            <a:r>
              <a:t>73m apart, same issue, wasted crews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474720"/>
            <a:ext cx="356616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356616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92400E"/>
                </a:solidFill>
              </a:defRPr>
            </a:pPr>
            <a:r>
              <a:t>Priority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977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C1917"/>
                </a:solidFill>
              </a:defRPr>
            </a:pPr>
            <a:r>
              <a:t>P1 vs P4 unclear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51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8716B"/>
                </a:solidFill>
              </a:defRPr>
            </a:pPr>
            <a:r>
              <a:t>Critical buried under low issues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474720"/>
            <a:ext cx="356616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89120" y="356616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92400E"/>
                </a:solidFill>
              </a:defRPr>
            </a:pPr>
            <a:r>
              <a:t>Routing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977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C1917"/>
                </a:solidFill>
              </a:defRPr>
            </a:pPr>
            <a:r>
              <a:t>Wrong department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251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8716B"/>
                </a:solidFill>
              </a:defRPr>
            </a:pPr>
            <a:r>
              <a:t>Pothole -&gt; Waste team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3474720"/>
            <a:ext cx="356616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00" y="356616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92400E"/>
                </a:solidFill>
              </a:defRPr>
            </a:pPr>
            <a:r>
              <a:t>Resolution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977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C1917"/>
                </a:solidFill>
              </a:defRPr>
            </a:pPr>
            <a:r>
              <a:t>No tracking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251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8716B"/>
                </a:solidFill>
              </a:defRPr>
            </a:pPr>
            <a:r>
              <a:t>Citizens never know status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92400E"/>
                </a:solidFill>
              </a:defRPr>
            </a:pPr>
            <a:r>
              <a:t>The Solution: SwarnLanka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8716B"/>
                </a:solidFill>
              </a:defRPr>
            </a:pPr>
            <a:r>
              <a:t>Vision + NLP + Geospatial + Priority Engine converts reports into action in seconds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737360" cy="173736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</a:defRPr>
            </a:pPr>
            <a:r>
              <a:t>Vision/NLP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FFFFFF"/>
                </a:solidFill>
              </a:defRPr>
            </a:pPr>
            <a:r>
              <a:t>Category, severity,</a:t>
            </a:r>
            <a:br/>
            <a:r>
              <a:t>confidence 0.94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463040"/>
            <a:ext cx="1737360" cy="1737360"/>
          </a:xfrm>
          <a:prstGeom prst="roundRect">
            <a:avLst/>
          </a:prstGeom>
          <a:solidFill>
            <a:srgbClr val="0E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6459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</a:defRPr>
            </a:pPr>
            <a:r>
              <a:t>Geospatial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1945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FFFFFF"/>
                </a:solidFill>
              </a:defRPr>
            </a:pPr>
            <a:r>
              <a:t>Lat/Lon + haversine</a:t>
            </a:r>
            <a:br/>
            <a:r>
              <a:t>&lt;150m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63040"/>
            <a:ext cx="1737360" cy="17373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6459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</a:defRPr>
            </a:pPr>
            <a:r>
              <a:t>Duplicate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1945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FFFFFF"/>
                </a:solidFill>
              </a:defRPr>
            </a:pPr>
            <a:r>
              <a:t>85% text sim</a:t>
            </a:r>
            <a:br/>
            <a:r>
              <a:t>12 -&gt; 1 incident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1737360" cy="1737360"/>
          </a:xfrm>
          <a:prstGeom prst="round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6459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</a:defRPr>
            </a:pPr>
            <a:r>
              <a:t>Priority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1945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FFFFFF"/>
                </a:solidFill>
              </a:defRPr>
            </a:pPr>
            <a:r>
              <a:t>30+25+20+15+10</a:t>
            </a:r>
            <a:br/>
            <a:r>
              <a:t>P1-P4 scoring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463040"/>
            <a:ext cx="1737360" cy="1737360"/>
          </a:xfrm>
          <a:prstGeom prst="roundRect">
            <a:avLst/>
          </a:prstGeom>
          <a:solidFill>
            <a:srgbClr val="0E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6459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</a:defRPr>
            </a:pPr>
            <a:r>
              <a:t>Routing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945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FFFFFF"/>
                </a:solidFill>
              </a:defRPr>
            </a:pPr>
            <a:r>
              <a:t>Auto department</a:t>
            </a:r>
            <a:br/>
            <a:r>
              <a:t>Road/Waste/Elec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1463040"/>
            <a:ext cx="1737360" cy="1737360"/>
          </a:xfrm>
          <a:prstGeom prst="round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0" y="16459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</a:defRPr>
            </a:pPr>
            <a:r>
              <a:t>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21945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FFFFFF"/>
                </a:solidFill>
              </a:defRPr>
            </a:pPr>
            <a:r>
              <a:t>KPI + Queue</a:t>
            </a:r>
            <a:br/>
            <a:r>
              <a:t>+ Map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657600"/>
            <a:ext cx="112471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8404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92400E"/>
                </a:solidFill>
              </a:defRPr>
            </a:pPr>
            <a:r>
              <a:t>Complete Loop: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1148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1C1917"/>
                </a:solidFill>
              </a:defRPr>
            </a:pPr>
            <a:r>
              <a:t>Citizen Report (UploadFile)  -&gt;  AI Analysis  -&gt;  Duplicate Detection  -&gt;  Priority Score  -&gt;  Department Routing  -&gt;  Authority Dashboard  -&gt;  Resolution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92400E"/>
                </a:solidFill>
              </a:defRPr>
            </a:pPr>
            <a:r>
              <a:t>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11887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C1917"/>
                </a:solidFill>
              </a:defRPr>
            </a:pPr>
            <a:r>
              <a:t>Citizen</a:t>
            </a:r>
            <a:br/>
            <a:r>
              <a:t>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7373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92400E"/>
                </a:solidFill>
              </a:defRPr>
            </a:pPr>
            <a:r>
              <a:t>-&gt;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280160"/>
            <a:ext cx="1188720" cy="118872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AI</a:t>
            </a:r>
            <a:br/>
            <a:r>
              <a:t>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7373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92400E"/>
                </a:solidFill>
              </a:defRPr>
            </a:pPr>
            <a:r>
              <a:t>-&gt;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280160"/>
            <a:ext cx="11887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C1917"/>
                </a:solidFill>
              </a:defRPr>
            </a:pPr>
            <a:r>
              <a:t>Verify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7373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92400E"/>
                </a:solidFill>
              </a:defRPr>
            </a:pPr>
            <a:r>
              <a:t>-&gt;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280160"/>
            <a:ext cx="11887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C1917"/>
                </a:solidFill>
              </a:defRPr>
            </a:pPr>
            <a:r>
              <a:t>Duplicate</a:t>
            </a:r>
            <a:br/>
            <a:r>
              <a:t>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7373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92400E"/>
                </a:solidFill>
              </a:defRPr>
            </a:pPr>
            <a:r>
              <a:t>-&gt;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1188720" cy="118872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Priority</a:t>
            </a:r>
            <a:br/>
            <a:r>
              <a:t>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17373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92400E"/>
                </a:solidFill>
              </a:defRPr>
            </a:pPr>
            <a: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280160"/>
            <a:ext cx="1188720" cy="118872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Route</a:t>
            </a:r>
            <a:br/>
            <a:r>
              <a:t>Department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17373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92400E"/>
                </a:solidFill>
              </a:defRPr>
            </a:pPr>
            <a:r>
              <a:t>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280160"/>
            <a:ext cx="11887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C1917"/>
                </a:solidFill>
              </a:defRPr>
            </a:pPr>
            <a:r>
              <a:t>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17373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92400E"/>
                </a:solidFill>
              </a:defRPr>
            </a:pPr>
            <a:r>
              <a:t>-&gt;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7040" y="1280160"/>
            <a:ext cx="11887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C1917"/>
                </a:solidFill>
              </a:defRPr>
            </a:pPr>
            <a:r>
              <a:t>Resolve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26080"/>
            <a:ext cx="11247120" cy="128016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10896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92400E"/>
                </a:solidFill>
              </a:defRPr>
            </a:pPr>
            <a:r>
              <a:t>Verified Demo Proof (19 Sep 2026, live DB mock):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1C1917"/>
                </a:solidFill>
              </a:defRPr>
            </a:pPr>
            <a:r>
              <a:t>Report #2:  huge pothole near college gate  at 19.1234,73.1234 -&gt; road_damage, severity 4, P2 High (71), Group #2</a:t>
            </a:r>
            <a:br/>
            <a:r>
              <a:t>Report #3:  massive road hole near college entrance  at 19.1239,73.1238 (73m away) -&gt; SAME Group #2, priority bumped to 77 -&gt; total_groups=2, high=2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92400E"/>
                </a:solidFill>
              </a:defRPr>
            </a:pPr>
            <a:r>
              <a:t>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35661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92400E"/>
                </a:solidFill>
              </a:defRPr>
            </a:pPr>
            <a:r>
              <a:t>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1C1917"/>
                </a:solidFill>
              </a:defRPr>
            </a:pPr>
            <a:r>
              <a:t>UploadFile + preview</a:t>
            </a:r>
            <a:br/>
            <a:r>
              <a:t>+ Use Current Location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3200400" cy="365760"/>
          </a:xfrm>
          <a:prstGeom prst="round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E7A0"/>
                </a:solidFill>
              </a:defRPr>
            </a:pPr>
            <a:r>
              <a:t>POST /api/reports/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005840"/>
            <a:ext cx="35661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09728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188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92400E"/>
                </a:solidFill>
              </a:defRPr>
            </a:pPr>
            <a:r>
              <a:t>AI Mock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508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1C1917"/>
                </a:solidFill>
              </a:defRPr>
            </a:pPr>
            <a:r>
              <a:t>Keyword -&gt; category</a:t>
            </a:r>
            <a:br/>
            <a:r>
              <a:t>confidence 0.94</a:t>
            </a:r>
            <a:br/>
            <a:r>
              <a:t>severity 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2286000"/>
            <a:ext cx="3200400" cy="365760"/>
          </a:xfrm>
          <a:prstGeom prst="round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331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E7A0"/>
                </a:solidFill>
              </a:defRPr>
            </a:pPr>
            <a:r>
              <a:t>POST /api/ai/analyze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005840"/>
            <a:ext cx="35661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0" y="109728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188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92400E"/>
                </a:solidFill>
              </a:defRPr>
            </a:pPr>
            <a:r>
              <a:t>Priority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508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1C1917"/>
                </a:solidFill>
              </a:defRPr>
            </a:pPr>
            <a:r>
              <a:t>Severity30+Safety25</a:t>
            </a:r>
            <a:br/>
            <a:r>
              <a:t>People20+Location15</a:t>
            </a:r>
            <a:br/>
            <a:r>
              <a:t>Duplicates10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2286000"/>
            <a:ext cx="3200400" cy="365760"/>
          </a:xfrm>
          <a:prstGeom prst="round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331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E7A0"/>
                </a:solidFill>
              </a:defRPr>
            </a:pPr>
            <a:r>
              <a:t>P1 85-100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383280"/>
            <a:ext cx="35661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347472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566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92400E"/>
                </a:solidFill>
              </a:defRPr>
            </a:pPr>
            <a:r>
              <a:t>Duplicate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8862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1C1917"/>
                </a:solidFill>
              </a:defRPr>
            </a:pPr>
            <a:r>
              <a:t>haversine &lt;150m</a:t>
            </a:r>
            <a:br/>
            <a:r>
              <a:t>text_sim &gt;0.85</a:t>
            </a:r>
            <a:br/>
            <a:r>
              <a:t>73m test passed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663440"/>
            <a:ext cx="3200400" cy="365760"/>
          </a:xfrm>
          <a:prstGeom prst="round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709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E7A0"/>
                </a:solidFill>
              </a:defRPr>
            </a:pPr>
            <a:r>
              <a:t>Group #2: 2 reports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3383280"/>
            <a:ext cx="35661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89120" y="347472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3566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92400E"/>
                </a:solidFill>
              </a:defRPr>
            </a:pPr>
            <a:r>
              <a:t>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38862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1C1917"/>
                </a:solidFill>
              </a:defRPr>
            </a:pPr>
            <a:r>
              <a:t>KPI + Priority Queue</a:t>
            </a:r>
            <a:br/>
            <a:r>
              <a:t>+ Duplicate Groups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80560" y="4663440"/>
            <a:ext cx="3200400" cy="365760"/>
          </a:xfrm>
          <a:prstGeom prst="round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4709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E7A0"/>
                </a:solidFill>
              </a:defRPr>
            </a:pPr>
            <a:r>
              <a:t>Sorted by score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3383280"/>
            <a:ext cx="35661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29600" y="347472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3566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92400E"/>
                </a:solidFill>
              </a:defRPr>
            </a:pPr>
            <a:r>
              <a:t>Map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8862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1C1917"/>
                </a:solidFill>
              </a:defRPr>
            </a:pPr>
            <a:r>
              <a:t>Leaflet OSM</a:t>
            </a:r>
            <a:br/>
            <a:r>
              <a:t>Colored markers</a:t>
            </a:r>
            <a:br/>
            <a:r>
              <a:t>P1 red, P2 orange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21040" y="4663440"/>
            <a:ext cx="3200400" cy="365760"/>
          </a:xfrm>
          <a:prstGeom prst="round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4709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FFE7A0"/>
                </a:solidFill>
              </a:defRPr>
            </a:pPr>
            <a:r>
              <a:t>Popups + groups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92400E"/>
                </a:solidFill>
              </a:defRPr>
            </a:pPr>
            <a:r>
              <a:t>Tech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6517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280160"/>
            <a:ext cx="2011680" cy="4572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1C1917"/>
                </a:solidFill>
              </a:defRPr>
            </a:pPr>
            <a:r>
              <a:t>Next.js 16.3.5</a:t>
            </a:r>
            <a:br/>
            <a:r>
              <a:t>TypeScript + Tailwind v4</a:t>
            </a:r>
            <a:br/>
            <a:r>
              <a:t>Leaflet 1.9.4 + react-leaflet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097280"/>
            <a:ext cx="26517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703320" y="1280160"/>
            <a:ext cx="2011680" cy="457200"/>
          </a:xfrm>
          <a:prstGeom prst="roundRect">
            <a:avLst/>
          </a:prstGeom>
          <a:solidFill>
            <a:srgbClr val="0E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9202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1C1917"/>
                </a:solidFill>
              </a:defRPr>
            </a:pPr>
            <a:r>
              <a:t>Python 3.11</a:t>
            </a:r>
            <a:br/>
            <a:r>
              <a:t>FastAPI 0.110 + Uvicorn</a:t>
            </a:r>
            <a:br/>
            <a:r>
              <a:t>Pydantic + CORS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097280"/>
            <a:ext cx="26517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29400" y="1280160"/>
            <a:ext cx="201168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1C1917"/>
                </a:solidFill>
              </a:defRPr>
            </a:pPr>
            <a:r>
              <a:t>Mock analyzer (keyword)</a:t>
            </a:r>
            <a:br/>
            <a:r>
              <a:t>Vision stub</a:t>
            </a:r>
            <a:br/>
            <a:r>
              <a:t>Ready for OpenAI/Gemini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097280"/>
            <a:ext cx="26517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55480" y="1280160"/>
            <a:ext cx="2011680" cy="457200"/>
          </a:xfrm>
          <a:prstGeom prst="round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19202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1C1917"/>
                </a:solidFill>
              </a:defRPr>
            </a:pPr>
            <a:r>
              <a:t>In-memory mock</a:t>
            </a:r>
            <a:br/>
            <a:r>
              <a:t>REPORTS=[] + GROUPS={}</a:t>
            </a:r>
            <a:br/>
            <a:r>
              <a:t>Schema ready: PostgreSQL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14800"/>
            <a:ext cx="11247120" cy="1097280"/>
          </a:xfrm>
          <a:prstGeom prst="round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2976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FFE7A0"/>
                </a:solidFill>
              </a:defRPr>
            </a:pPr>
            <a:r>
              <a:t>Build:  next build -&gt; 4 routes (/, /report, /dashboard, /map)  |  API:  /api/reports, /api/ai/analyze, /api/dashboard/*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7200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FFE7A0"/>
                </a:solidFill>
              </a:defRPr>
            </a:pPr>
            <a:r>
              <a:t>Deploy:  Vercel (frontend) + Render (backend, Python 3.11, CORS env)  |  Repo:  7 commits in 24h window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92400E"/>
                </a:solidFill>
              </a:defRPr>
            </a:pPr>
            <a:r>
              <a:t>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124712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2286000" cy="9144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Citizen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78716B"/>
                </a:solidFill>
              </a:defRPr>
            </a:pPr>
            <a:r>
              <a:t>Photo + Text + GPS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280160"/>
            <a:ext cx="2286000" cy="914400"/>
          </a:xfrm>
          <a:prstGeom prst="round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Next.js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286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78716B"/>
                </a:solidFill>
              </a:defRPr>
            </a:pPr>
            <a:r>
              <a:t>/report, /dashboard, /map</a:t>
            </a:r>
            <a:br/>
            <a:r>
              <a:t>services/api.ts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280160"/>
            <a:ext cx="2286000" cy="914400"/>
          </a:xfrm>
          <a:prstGeom prst="round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FastAPI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286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78716B"/>
                </a:solidFill>
              </a:defRPr>
            </a:pPr>
            <a:r>
              <a:t>3 routers + CORS</a:t>
            </a:r>
            <a:br/>
            <a:r>
              <a:t>Mock DB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1280160"/>
            <a:ext cx="2286000" cy="914400"/>
          </a:xfrm>
          <a:prstGeom prst="roundRect">
            <a:avLst/>
          </a:prstGeom>
          <a:solidFill>
            <a:srgbClr val="0E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AI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286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78716B"/>
                </a:solidFill>
              </a:defRPr>
            </a:pPr>
            <a:r>
              <a:t>analyzer + priority</a:t>
            </a:r>
            <a:br/>
            <a:r>
              <a:t>+ duplicate + dept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6459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92400E"/>
                </a:solidFill>
              </a:defRPr>
            </a:pPr>
            <a:r>
              <a:t>-&gt;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459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92400E"/>
                </a:solidFill>
              </a:defRPr>
            </a:pPr>
            <a:r>
              <a:t>-&gt;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6459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92400E"/>
                </a:solidFill>
              </a:defRPr>
            </a:pPr>
            <a:r>
              <a:t>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91840"/>
            <a:ext cx="5029200" cy="100584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92400E"/>
                </a:solidFill>
              </a:defRPr>
            </a:pPr>
            <a:r>
              <a:t>Deployment: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4903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1C1917"/>
                </a:solidFill>
              </a:defRPr>
            </a:pPr>
            <a:r>
              <a:t>Vercel: swarn-lanka-...vercel.app  +  Render: swarnlanka-ai.onrender.com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291840"/>
            <a:ext cx="5029200" cy="100584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4747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92400E"/>
                </a:solidFill>
              </a:defRPr>
            </a:pPr>
            <a:r>
              <a:t>Future DB: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74903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1C1917"/>
                </a:solidFill>
              </a:defRPr>
            </a:pPr>
            <a:r>
              <a:t>PostgreSQL + PostGIS + pgvector (schema.sql ready)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92400E"/>
                </a:solidFill>
              </a:defRPr>
            </a:pPr>
            <a:r>
              <a:t>Impact &amp; Scalability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6517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4688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92400E"/>
                </a:solidFill>
              </a:defRPr>
            </a:pPr>
            <a:r>
              <a:t>Efficiency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1C1917"/>
                </a:solidFill>
              </a:defRPr>
            </a:pPr>
            <a:r>
              <a:t>12 reports -&gt; 1 incident</a:t>
            </a:r>
            <a:br/>
            <a:r>
              <a:t>80% crew time saved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68880"/>
            <a:ext cx="1737360" cy="27432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Duplicate grouping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097280"/>
            <a:ext cx="26517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4720" y="1188720"/>
            <a:ext cx="24688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280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92400E"/>
                </a:solidFill>
              </a:defRPr>
            </a:pPr>
            <a:r>
              <a:t>Speed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645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1C1917"/>
                </a:solidFill>
              </a:defRPr>
            </a:pPr>
            <a:r>
              <a:t>P1 in seconds, not days</a:t>
            </a:r>
            <a:br/>
            <a:r>
              <a:t>Priority 71-&gt;77 bump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2468880"/>
            <a:ext cx="1737360" cy="27432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Transparent scoring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097280"/>
            <a:ext cx="26517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1188720"/>
            <a:ext cx="24688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280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92400E"/>
                </a:solidFill>
              </a:defRPr>
            </a:pPr>
            <a:r>
              <a:t>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645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1C1917"/>
                </a:solidFill>
              </a:defRPr>
            </a:pPr>
            <a:r>
              <a:t>Auto routing 94% conf</a:t>
            </a:r>
            <a:br/>
            <a:r>
              <a:t>Wrong dept = 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2468880"/>
            <a:ext cx="1737360" cy="27432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AI + rules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097280"/>
            <a:ext cx="26517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26880" y="1188720"/>
            <a:ext cx="24688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1280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92400E"/>
                </a:solidFill>
              </a:defRPr>
            </a:pPr>
            <a:r>
              <a:t>Transparency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1645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1C1917"/>
                </a:solidFill>
              </a:defRPr>
            </a:pPr>
            <a:r>
              <a:t>Full loop visible</a:t>
            </a:r>
            <a:br/>
            <a:r>
              <a:t>Citizen -&gt; Resolve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2468880"/>
            <a:ext cx="1737360" cy="27432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Dashboard + 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657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78716B"/>
                </a:solidFill>
              </a:defRPr>
            </a:pPr>
            <a:r>
              <a:t>Scalability:  In-memory mock for 24h MVP -&gt; horizontal scale to PostgreSQL + pgvector + PostGIS (already in schema.sql) -&gt; city-wide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78716B"/>
                </a:solidFill>
              </a:defRPr>
            </a:pPr>
            <a:r>
              <a:t>Evaluation Fit:  Innovation (UploadFile+duplicate)  |  Technical (3 routers+services)  |  UX (gold premium + Leaflet)  |  Impact (real civic)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92400E"/>
                </a:solidFill>
              </a:defRPr>
            </a:pPr>
            <a:r>
              <a:t>Live Demo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1247120" cy="640080"/>
          </a:xfrm>
          <a:prstGeom prst="round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FFE7A0"/>
                </a:solidFill>
              </a:defRPr>
            </a:pPr>
            <a:r>
              <a:t>Frontend:  https://swarn-lanka-fxrdrw1tn-aryansneha1845.vercel.app   |   Backend:  https://swarnlanka-ai.onrender.com/docs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D6D3D1"/>
                </a:solidFill>
              </a:defRPr>
            </a:pPr>
            <a:r>
              <a:t>Local:  http://localhost:3000  +  http://127.0.0.1:8000/docs  |  GitHub:  github.com/Aryansneha1845/-SwarnLanka-AI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5661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3383280" cy="1463040"/>
          </a:xfrm>
          <a:prstGeom prst="roundRect">
            <a:avLst/>
          </a:prstGeom>
          <a:solidFill>
            <a:srgbClr val="FFFBEB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1C1917"/>
                </a:solidFill>
              </a:defRPr>
            </a:pPr>
            <a:r>
              <a:t>1. Open /report</a:t>
            </a:r>
            <a:br/>
            <a:r>
              <a:t>Upload photo (UploadFile)</a:t>
            </a:r>
            <a:br/>
            <a:r>
              <a:t>Type huge pothole...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28800"/>
            <a:ext cx="35661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920240"/>
            <a:ext cx="3383280" cy="1463040"/>
          </a:xfrm>
          <a:prstGeom prst="roundRect">
            <a:avLst/>
          </a:prstGeom>
          <a:solidFill>
            <a:srgbClr val="FFFBEB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01168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1C1917"/>
                </a:solidFill>
              </a:defRPr>
            </a:pPr>
            <a:r>
              <a:t>2. Click Analyze with AI</a:t>
            </a:r>
            <a:br/>
            <a:r>
              <a:t>See road_damage, 0.94,</a:t>
            </a:r>
            <a:br/>
            <a:r>
              <a:t>P2 High 71, Road Dept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28800"/>
            <a:ext cx="35661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0" y="1920240"/>
            <a:ext cx="3383280" cy="1463040"/>
          </a:xfrm>
          <a:prstGeom prst="roundRect">
            <a:avLst/>
          </a:prstGeom>
          <a:solidFill>
            <a:srgbClr val="FFFBEB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01168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1C1917"/>
                </a:solidFill>
              </a:defRPr>
            </a:pPr>
            <a:r>
              <a:t>3. Click Submit Report</a:t>
            </a:r>
            <a:br/>
            <a:r>
              <a:t>Get ID # + Group #</a:t>
            </a:r>
            <a:br/>
            <a:r>
              <a:t>Stored in mock 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49039"/>
            <a:ext cx="35661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3840479"/>
            <a:ext cx="3383280" cy="1463040"/>
          </a:xfrm>
          <a:prstGeom prst="roundRect">
            <a:avLst/>
          </a:prstGeom>
          <a:solidFill>
            <a:srgbClr val="FFFBEB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31919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1C1917"/>
                </a:solidFill>
              </a:defRPr>
            </a:pPr>
            <a:r>
              <a:t>4. Open /dashboard</a:t>
            </a:r>
            <a:br/>
            <a:r>
              <a:t>See KPI: total 3, high 2</a:t>
            </a:r>
            <a:br/>
            <a:r>
              <a:t>Queue sorted 77&gt;71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749039"/>
            <a:ext cx="35661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89120" y="3840479"/>
            <a:ext cx="3383280" cy="1463040"/>
          </a:xfrm>
          <a:prstGeom prst="roundRect">
            <a:avLst/>
          </a:prstGeom>
          <a:solidFill>
            <a:srgbClr val="FFFBEB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3931919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1C1917"/>
                </a:solidFill>
              </a:defRPr>
            </a:pPr>
            <a:r>
              <a:t>5. See Duplicate Groups</a:t>
            </a:r>
            <a:br/>
            <a:r>
              <a:t>Group #2: 2 reports</a:t>
            </a:r>
            <a:br/>
            <a:r>
              <a:t>73m apart -&gt; grouped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749039"/>
            <a:ext cx="35661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0" y="3840479"/>
            <a:ext cx="3383280" cy="1463040"/>
          </a:xfrm>
          <a:prstGeom prst="roundRect">
            <a:avLst/>
          </a:prstGeom>
          <a:solidFill>
            <a:srgbClr val="FFFBEB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931919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1C1917"/>
                </a:solidFill>
              </a:defRPr>
            </a:pPr>
            <a:r>
              <a:t>6. Open /map</a:t>
            </a:r>
            <a:br/>
            <a:r>
              <a:t>Leaflet OSM</a:t>
            </a:r>
            <a:br/>
            <a:r>
              <a:t>Red/orange markers</a:t>
            </a:r>
            <a:br/>
            <a:r>
              <a:t>Click popup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24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FFFFF"/>
                </a:solidFill>
              </a:defRPr>
            </a:pPr>
            <a:r>
              <a:t>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FFE7A0"/>
                </a:solidFill>
              </a:defRPr>
            </a:pPr>
            <a:r>
              <a:t>From 24H MVP to City-Scale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25603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C1917"/>
                </a:solidFill>
              </a:defRPr>
            </a:pPr>
            <a:r>
              <a:t>Swap mock to real LLM</a:t>
            </a:r>
            <a:br/>
            <a:r>
              <a:t>OpenAI/Gemini 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920240"/>
            <a:ext cx="25603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C1917"/>
                </a:solidFill>
              </a:defRPr>
            </a:pPr>
            <a:r>
              <a:t>PostgreSQL + PostGIS</a:t>
            </a:r>
            <a:br/>
            <a:r>
              <a:t>pgvector embeddings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920240"/>
            <a:ext cx="25603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C1917"/>
                </a:solidFill>
              </a:defRPr>
            </a:pPr>
            <a:r>
              <a:t>Citizen Track page</a:t>
            </a:r>
            <a:br/>
            <a:r>
              <a:t>Status timeline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920240"/>
            <a:ext cx="25603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C1917"/>
                </a:solidFill>
              </a:defRPr>
            </a:pPr>
            <a:r>
              <a:t>Heatmap Analytics</a:t>
            </a:r>
            <a:br/>
            <a:r>
              <a:t>Admin resolve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3657600"/>
            <a:ext cx="7589520" cy="9144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Thank You  |  SwarnLanka AI  |  Hack Devengers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FFE7A0"/>
                </a:solidFill>
              </a:defRPr>
            </a:pPr>
            <a:r>
              <a:t>GitHub: github.com/Aryansneha1845/-SwarnLanka-AI   |   Live: swarn-lanka-...vercel.app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FFFFFF"/>
                </a:solidFill>
              </a:defRPr>
            </a:pPr>
            <a:r>
              <a:t>Built in 24H  |  7 commits  |  Premium UI  |  Verified Duplicate Grouping (73m)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SwarnLanka AI - Hack Devengers 2.0</dc:title>
  <dc:subject>Civic Intelligence Platform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